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title. Do not rush. Ask: “When did you last walk into a steering committee without a second spreadsheet?” Pause. Then: this story is why iProjectX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each box. Ask which one they live in this week. Spreadsheets, ERP, timesheets, email, and the slide deck are the usual five. None of them share a formula.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human cost. Do not invent hours saved. Ask what that Sunday is worth to them. The product’s answer is a live pack — Executive Reports — not another rebuild.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four questions slowly. The rest of the deck is how iProjectX answers each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turn in the story. From here we walk the product — not a brochure of modules, a journey from idea to board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= Pulse, Cockpit, Dashboard, Infographic, Timeline. Explain = Health Engine + Explain chips on RAG and money. Govern = gates, RAID, decisions, reports. Trust = MFA, RLS, optional SSO/BYOD,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 Pipeline stages: Idea → Screening → Business Case → Approved / Rejected / On Hold. Admin can convert an approved case into a project. Jira and a signed webhook can drop work into Demand or Work Items.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tour every page. Pick Demand → one project → Infographic. The rest is “and the register already has…”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 Methods &amp; Gates lets the org configure Waterfall (default 9 gates) and Agile (default 6). Work Items link to a gate or a sprint. Work Board is the kanban. Agile page shows velocity. One project can be hybrid.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Gates: approve / hold / reject. Checklists are enforced. Roadmap × Governance overlays the plan on the gate flow. Governance Channels name the forum and the decision rights. This is govern — not a status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Timeline with the TODAY line if you only have one delivery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 = plan vs actual, skill heat, utilisation. Health Engine treats 70–95% as the healthy band; &gt;110% is overload. Timesheets: draft → PM → resource manager → approved. Calendar or grid. Billable and non-billable. Capacity gaps also appear in Executive Intelligence.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Financials = monthly CapEx/OpEx plan vs actual vs forecast. FY Allocation splits by financial year (default FY starts April). Phase Financials by stream. EVM: PV, EV, AC, SPI, CPI, EAC. Cost vs Benefit. Benefits Realisation feeds the 5% health weight. Org invoices use the live template — including already-issued bills.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one project and stay there: plan, actual, forecast, an invoice. Do not hop tenants.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Published weights: Schedule 20, Financial 20, Delivery 15, Scope 10, Resource 10, Risk 10, Dependencies 10, Benefits 5. Same engine on Infographic, Cockpit, and Pulse. Manual RAG still exists on the register; calculated health is what you defend.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a RAG chip. Explain opens the drivers. Pulse uses six areas (Financial, Delivery, Resources, Risk, Benefits, Dependencies) and flags a move if the score shifts by 3 or more. Early warnings: FTE gap, slip, overrun, critical risks, util &gt;110%, gates ≥15 days late. 30-day predictive health with confidence 50–92%.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= probability × impact. Critical ≥ 15. Auto-escalation fields. Decisions have an approval workflow (Pending / In Review / Approved / Rejected / On Hold). Actions have owners and dates. Stakeholders map influence. Lessons stay on the project. Release &amp; Change Register is the change-request book. Alert emails: approvals, overdue RAID, escalation, pulse — when the platform has mail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Reports is the board pack. Do not call it a module that does not exist.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Intelligence: delay cascade through depends-on → dependent; resource capacity gaps (flag &gt;0.5 FTE); resource optimisation; dependency criticality; change-control impact; investment ranking; funding what-if; decision backlog; benefits narrative; governance cadence tasks. This is See + Explain before the overrun.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path: Pulse → one red → Explain → Intelligence what-if. Twelve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Reports tabs: Overview, Portfolio &amp; RAG, Financials, Risks &amp; Actions, Benefits, Stage Gates, Programs &amp; BU. Project Infographic exports a one-project brief. Page Downloads policy decides which pages may export PDF/PPT/PNG.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In-house AI is the default — RLS-scoped, no external model. An approved Open AI model is optional, off unless the org asks. Do not demo a public chatbot. Show a question about this tenant’s red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Editor: 29 tables, import upserts on project code, async export for large orgs. Needs data_editor / template_upload capability. Jira Cloud/DC imports issues into Work Items or Demand (test connection first; default 50 issues). Custom webhook → Demand. Azure DevOps and ServiceNow are listed, not shipped — do not sell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image is the map. The next slide is the remaining admin and trust streets so nothing is missing from the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Skip this slide in a 12-minute demo. Keep it in the leave-behind so procurement can see the streets.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MFA (TOTP) is required for all users. Row-level tenancy. Optional SAML SSO, IP allowlist (max 50), BYOD on a customer PostgREST-compatible database. White-label name, logo, colours. In-house AI default. Audit + security Excel packs. Say readiness for SOC 2 / ISO — never “we are certified” unless Legal confirms.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close of the story before the ask. Read the six beats. Then the last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an Expression of Interest and a scoped pilot on their extract. No list price. No invented ROI. No fake logos. No SOC 2 / ISO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1-stop-flying-bli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349240"/>
            <a:ext cx="12191695" cy="150876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546811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Illustrated sales story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57424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flying blind.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62179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board one truth — then walk every feature in the product.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2-five-systems-f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Flying blind looks like this: five systems, one story that never matches.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/  28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3-sunday-rebui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rebuilds the pack on Sunday. By Monday the numbers have already moved.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/  28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“FLYING BLIND” MEANS IN THE ROOM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4864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questions nobody can answer from one screen.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11430000" cy="1115568"/>
          </a:xfrm>
          <a:prstGeom prst="roundRect">
            <a:avLst>
              <a:gd name="adj" fmla="val 8197"/>
            </a:avLst>
          </a:prstGeom>
          <a:solidFill>
            <a:srgbClr val="E8EEF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43560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1B3D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356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48840" y="1399032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RAG real — or did someone type the colour?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11430000" cy="1115568"/>
          </a:xfrm>
          <a:prstGeom prst="roundRect">
            <a:avLst>
              <a:gd name="adj" fmla="val 8197"/>
            </a:avLst>
          </a:prstGeom>
          <a:solidFill>
            <a:srgbClr val="E8EEF6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67004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1B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7004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2633472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forecast match the invoice and the timesheet?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5760" y="3611880"/>
            <a:ext cx="11430000" cy="1115568"/>
          </a:xfrm>
          <a:prstGeom prst="roundRect">
            <a:avLst>
              <a:gd name="adj" fmla="val 8197"/>
            </a:avLst>
          </a:prstGeom>
          <a:solidFill>
            <a:srgbClr val="E8EE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90448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1B3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0448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48840" y="3867912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one system of record for the change portfolio?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65760" y="4846320"/>
            <a:ext cx="11430000" cy="1115568"/>
          </a:xfrm>
          <a:prstGeom prst="roundRect">
            <a:avLst>
              <a:gd name="adj" fmla="val 8197"/>
            </a:avLst>
          </a:prstGeom>
          <a:solidFill>
            <a:srgbClr val="E8EE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5138928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0F1B3D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3892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48840" y="5102352"/>
            <a:ext cx="9326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audit asks, can we replay who saw what?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/  28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4-one-cockp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is the cockpit: health, money, people, and the calendar on one picture.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/  28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5-see-explain-govern-t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product is four verbs: See. Explain. Govern. Trust.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/  28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6-demand-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starts before the project exists — an idea enters Demand.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/  28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 ·  PORTFOLIO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a living register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below is a real page in the product.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Pipeline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Idea, screening, case, approve / reject / hold.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Wizard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569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steps: project, streams, gates, FY, work, governance, review.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Register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inventory. Filters, KPIs, charts. One code per project.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workspace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streams, decisions, work, RAID, finance — one record.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2569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Roll-up health and money across a programme.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Infographic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761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 visual brief. PDF and PPT export.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the portfolio — budget × value, not a flat list.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9" name="Text 27"/>
          <p:cNvSpPr/>
          <p:nvPr/>
        </p:nvSpPr>
        <p:spPr>
          <a:xfrm>
            <a:off x="442569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2569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by ROI, priority, benefits, and funding pressure.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761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slip and change-request movement this period.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Scenarios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/ exclude projects under a funding cap.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8" name="Text 36"/>
          <p:cNvSpPr/>
          <p:nvPr/>
        </p:nvSpPr>
        <p:spPr>
          <a:xfrm>
            <a:off x="442569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Units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2569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 shape the register reports against.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+ My Work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5761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start. Your approvals and assigned work.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/  28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7-agile-waterfall-sp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 and Waterfall gates share one spine. No second system.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/  28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8-stage-g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can say no. The checklist must be complete before Approve.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28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 · 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work actually moves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Layman version: the board, the calendar, the path, and the people.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WBS / tasks. Linked to a gate or a sprint.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569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with drag-and-drop. Filter by project and sprint.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Gantt, TODAY line, planned vs actual, gate markers.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CPM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path. FS / SS / FF / SF links with lag.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2569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waits. Needed-by dates. Criticality.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/ Sprints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761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and backlog on the same spine as gates.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× Governance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drawn on top of the gate flow.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9" name="Text 27"/>
          <p:cNvSpPr/>
          <p:nvPr/>
        </p:nvSpPr>
        <p:spPr>
          <a:xfrm>
            <a:off x="442569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Analytics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2569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mix + Monte Carlo cost (2,000 runs).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Roadmap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761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on a timeline. P×I heatmap. Critical ≥ 15.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Channels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Forums, cadence, who may decide.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8" name="Text 36"/>
          <p:cNvSpPr/>
          <p:nvPr/>
        </p:nvSpPr>
        <p:spPr>
          <a:xfrm>
            <a:off x="442569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Methods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2569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Waterfall, Agile, Hybrid and gate templates.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Updates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5761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moved. Manual status with an overall RAG.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28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2-people-hou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are not a side spreadsheet. Hours hit the same picture as money.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28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09-money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actual, forecast, invoice — one conversation. Not four files.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28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 ·  MONEY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finance page the CFO can open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about dollars, it sits on this line.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35024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 / actual / forecast. Variance with Explain.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261872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Allocation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1656" y="1572768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financial year. Default FY start: April.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2368296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Financials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2606040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phase or stream — not only by project.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295144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2368296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(EVM)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2606040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 = EV/PV. CPI = EV/AC. EAC from the engine.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340156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Benefit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" y="3639312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costs versus what it returns.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328416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340156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Realisation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91656" y="3639312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 realised. 5% of the health score.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61688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4434840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Invoices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" y="4672584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subscription invoices. Live chrome/template.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361688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9" name="Text 27"/>
          <p:cNvSpPr/>
          <p:nvPr/>
        </p:nvSpPr>
        <p:spPr>
          <a:xfrm>
            <a:off x="6391656" y="4434840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 → $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91656" y="4672584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hours are not a separate product.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28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0-health-formu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is a formula — eight weights. Not a colour someone typed.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28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1-rag-b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≥ 80. Amber 65–79. Red &lt; 65. Same bands in every tenant.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28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3-raid-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RAID is the control tower: Risks, Issues, Actions, Decisions — plus who owns them.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28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 ·  GOVERN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not folklore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audit asked tomorrow, these pages are the replay.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P×I score. Critical ≥ 15. Escalation timestamp.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569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Blockers and defects on the same spine.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261872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1572768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date, done or not. No inbox archaeology.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+ approval. Awaiting my approval on My Work.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2569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/ interest. Sponsor can be a login.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2295144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2368296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7616" y="2606040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on the project, not in a forgotten folder.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&amp; Change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 that move the baseline.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9" name="Text 27"/>
          <p:cNvSpPr/>
          <p:nvPr/>
        </p:nvSpPr>
        <p:spPr>
          <a:xfrm>
            <a:off x="442569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Gates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2569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/ reject / pass. Checklist first.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3328416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3401568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7616" y="3639312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pack: 7 tabs, Print/PDF, Excel.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own metric snapshot.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38" name="Text 36"/>
          <p:cNvSpPr/>
          <p:nvPr/>
        </p:nvSpPr>
        <p:spPr>
          <a:xfrm>
            <a:off x="442569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2569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actions. Excel pack ≤ 10,000 rows.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4361688"/>
            <a:ext cx="379476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4434840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emails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57616" y="4672584"/>
            <a:ext cx="353872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 and escalation — org can opt channels.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28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4-delay-casc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delay is a row of dominoes. What-if lets you touch the first one on purpose.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28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 ·  COMMAND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leaders open on Monday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Pulse areas. One cockpit. A dashboard. An intelligence bench. An in-house AI.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35024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Pulse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areas + week-over-week. Snapshot ~every 6 days.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261872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6391656" y="1335024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Cockpit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91656" y="1572768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snapshot: money, delivery, benefits, health table.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95144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" y="2368296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2606040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cockpit + timelines + Generate PDF.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295144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91656" y="2368296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Intelligence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2606040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What-if, capacity, funding, decisions, benefits story.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328416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" y="340156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" y="3639312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portfolio in English. Data stays in the tenant.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3328416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3" name="Text 21"/>
          <p:cNvSpPr/>
          <p:nvPr/>
        </p:nvSpPr>
        <p:spPr>
          <a:xfrm>
            <a:off x="6391656" y="3401568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91656" y="3639312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RAG chips and money KPIs — drivers, not folklore.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61688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4434840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" y="4672584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PPT / PNG of the page you are 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4361688"/>
            <a:ext cx="57607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/>
        </p:spPr>
      </p:sp>
      <p:sp>
        <p:nvSpPr>
          <p:cNvPr id="29" name="Text 27"/>
          <p:cNvSpPr/>
          <p:nvPr/>
        </p:nvSpPr>
        <p:spPr>
          <a:xfrm>
            <a:off x="6391656" y="4434840"/>
            <a:ext cx="55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palette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91656" y="4672584"/>
            <a:ext cx="55046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⌘K / Ctrl+K to any page you are allowed to see.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/  28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5-live-board-p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pack is a live view. Seven tabs. Print, PDF, or Excel — not a Sunday rebuild.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/  28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20-inhouse-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portfolio a question. The default answer never leaves the house.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/  28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8-excel-onram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register you already have. Excel is the on-ramp, not the prison.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/  28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6-feature-atl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product. Neighbourhoods: Command, Portfolio, Delivery, Money, Govern, Admin.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/  28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0116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 ·  OPERATE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11430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integrations, and the rest of the streets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859536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same tenant. Nothing here is a second product.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Users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15727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Invite, roles, activate. admin / org_admin / bu_lead / pm / executive.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2618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25696" y="15727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+ table + capability matrix. Default deny.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2618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14" name="Text 12"/>
          <p:cNvSpPr/>
          <p:nvPr/>
        </p:nvSpPr>
        <p:spPr>
          <a:xfrm>
            <a:off x="8357616" y="13350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data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57616" y="15727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which projects a role or user can see.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9857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" y="20589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sequence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22966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or hide sidebar items per org.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19857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20" name="Text 18"/>
          <p:cNvSpPr/>
          <p:nvPr/>
        </p:nvSpPr>
        <p:spPr>
          <a:xfrm>
            <a:off x="4425696" y="20589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downloads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25696" y="22966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or deny PDF / PPT / PNG per page.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19857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20589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57616" y="22966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(shipped). Webhook (shipped). ADO / ServiceNow not shipped.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7096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" y="27828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Editor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" y="30205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 in and out. 29 tables.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27096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29" name="Text 27"/>
          <p:cNvSpPr/>
          <p:nvPr/>
        </p:nvSpPr>
        <p:spPr>
          <a:xfrm>
            <a:off x="4425696" y="27828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Theme + styles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25696" y="30205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and chrome. Optional cartoons on Home.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27096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32" name="Text 30"/>
          <p:cNvSpPr/>
          <p:nvPr/>
        </p:nvSpPr>
        <p:spPr>
          <a:xfrm>
            <a:off x="8357616" y="27828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Settings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57616" y="30205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start month, MFA status, notification prefs.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4335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" y="35067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emails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" y="37444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channel prefs. Users can opt out where allowed.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297680" y="34335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38" name="Text 36"/>
          <p:cNvSpPr/>
          <p:nvPr/>
        </p:nvSpPr>
        <p:spPr>
          <a:xfrm>
            <a:off x="4425696" y="35067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Licenses + Billing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425696" y="37444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and subscription invoices for the org.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229600" y="34335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35067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project purge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357616" y="37444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/ cancelled older than one year.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65760" y="41574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" y="42306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+ Legal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3776" y="44683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to the platform. Published policies in-app.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97680" y="41574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47" name="Text 45"/>
          <p:cNvSpPr/>
          <p:nvPr/>
        </p:nvSpPr>
        <p:spPr>
          <a:xfrm>
            <a:off x="4425696" y="42306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425696" y="44683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First-run setup for a new organisation.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229600" y="41574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50" name="Text 48"/>
          <p:cNvSpPr/>
          <p:nvPr/>
        </p:nvSpPr>
        <p:spPr>
          <a:xfrm>
            <a:off x="8357616" y="42306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357616" y="44683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Denser chrome. Live sync when the database moves.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5760" y="4881372"/>
            <a:ext cx="3794760" cy="650748"/>
          </a:xfrm>
          <a:prstGeom prst="roundRect">
            <a:avLst>
              <a:gd name="adj" fmla="val 11241"/>
            </a:avLst>
          </a:prstGeom>
          <a:solidFill>
            <a:srgbClr val="E8EEF6"/>
          </a:solidFill>
          <a:ln/>
        </p:spPr>
      </p:sp>
      <p:sp>
        <p:nvSpPr>
          <p:cNvPr id="53" name="Text 51"/>
          <p:cNvSpPr/>
          <p:nvPr/>
        </p:nvSpPr>
        <p:spPr>
          <a:xfrm>
            <a:off x="493776" y="49545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login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93776" y="5192268"/>
            <a:ext cx="35387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/o/:slug/login — their name on the door.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/  28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7-trust-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9893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989320"/>
            <a:ext cx="12191695" cy="612648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365760" y="6053328"/>
            <a:ext cx="1143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built in: MFA for everyone. Isolation. Evidence. Optional SSO and BYOD.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/  28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6FA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256032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WEEK, AFTER THE FOG LIFTS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layperson can tell this story in six beats.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E8EEF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9844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Monday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1828800"/>
            <a:ext cx="3346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shows what moved. One red is already named.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E8EEF6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129844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The chip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98848" y="1828800"/>
            <a:ext cx="3346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opens the formula. Amber is 65–79 — not a feeling.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0" y="109728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E8EEF6"/>
          </a:solidFill>
          <a:ln/>
        </p:spPr>
      </p:sp>
      <p:sp>
        <p:nvSpPr>
          <p:cNvPr id="13" name="Text 11"/>
          <p:cNvSpPr/>
          <p:nvPr/>
        </p:nvSpPr>
        <p:spPr>
          <a:xfrm>
            <a:off x="8430768" y="129844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The line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30768" y="1828800"/>
            <a:ext cx="3346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actual, forecast, invoice agree or they don’t — on one project.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E8EEF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85876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The people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66928" y="4389120"/>
            <a:ext cx="3346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timesheets show who is over 110%.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365760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E8EEF6"/>
          </a:solidFill>
          <a:ln/>
        </p:spPr>
      </p:sp>
      <p:sp>
        <p:nvSpPr>
          <p:cNvPr id="19" name="Text 17"/>
          <p:cNvSpPr/>
          <p:nvPr/>
        </p:nvSpPr>
        <p:spPr>
          <a:xfrm>
            <a:off x="4498848" y="385876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6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The gate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98848" y="4389120"/>
            <a:ext cx="3346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blocks Approve. A decision is logged with evidence.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0" y="3657600"/>
            <a:ext cx="3749040" cy="2377440"/>
          </a:xfrm>
          <a:prstGeom prst="roundRect">
            <a:avLst>
              <a:gd name="adj" fmla="val 4615"/>
            </a:avLst>
          </a:prstGeom>
          <a:solidFill>
            <a:srgbClr val="0F1B3D"/>
          </a:solidFill>
          <a:ln/>
        </p:spPr>
      </p:sp>
      <p:sp>
        <p:nvSpPr>
          <p:cNvPr id="22" name="Text 20"/>
          <p:cNvSpPr/>
          <p:nvPr/>
        </p:nvSpPr>
        <p:spPr>
          <a:xfrm>
            <a:off x="8430768" y="3858768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The pack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30768" y="4389120"/>
            <a:ext cx="33467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Reports print from the tenant. Nobody rebuilt Sunday.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6620256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iProjectX  ·  Stop Flying Blind  · 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241280" y="662025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/  28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docs/sales/story-images/19-clear-sky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5212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F1B3D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5376672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one red project on the wall.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D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cannot explain it, invoice it, and pack it from the same tenant — we have not earned the next meeting.  ·  www.iprojectx.com  ·  Expression of Interest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iProjectX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iProjectX — Stop Flying Blind</dc:title>
  <dc:subject>Illustrated product story and full feature pack</dc:subject>
  <dc:creator>iProjectX</dc:creator>
  <cp:lastModifiedBy>iProjectX</cp:lastModifiedBy>
  <cp:revision>1</cp:revision>
  <dcterms:created xsi:type="dcterms:W3CDTF">2026-08-16T00:03:03Z</dcterms:created>
  <dcterms:modified xsi:type="dcterms:W3CDTF">2026-08-16T00:03:03Z</dcterms:modified>
</cp:coreProperties>
</file>