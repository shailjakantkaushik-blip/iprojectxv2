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three verbs. Do not invent customer logos or ROI. Point to a live tenant if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broken chain left to right. Ask which box they live in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product story. Demo should hit all three verbs in 12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live RAG chip. Show 80 and 65. Do not invent a custom threshold unless they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Bars are illustrative of relative weight, not a contractual SLA. Confirm live weights in product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Resources if they say you have no capacity. It is Delivery →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 project with plan, actual, and an invoice. Stay on one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invent time saved. Ask them which left-hand line is most expensive this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two personas in the room. Skip the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ask for a certificate, take it as a follow-up. Do not improvise.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Timebox. If they pull you into config, park it and return to the red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length is a conversation. Do not lock a commercial term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question would break a guardrail, write it down and bring Legal or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 calendar hold for the pilot kickoff, not a brochure drop.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A1228"/>
          </a:solidFill>
          <a:ln/>
        </p:spPr>
      </p:sp>
      <p:pic>
        <p:nvPicPr>
          <p:cNvPr id="5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438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02920" y="19659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INFOGRAPHIC SALES PITCH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2860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See. Explain. Govern.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02920" y="31546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operating picture for the portfolio — from the first RAG band to the board pack.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02920" y="39319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3B6FA0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3931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Engine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06040" y="39319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3B6FA0"/>
          </a:solidFill>
          <a:ln/>
        </p:spPr>
      </p:sp>
      <p:sp>
        <p:nvSpPr>
          <p:cNvPr id="13" name="Text 10"/>
          <p:cNvSpPr/>
          <p:nvPr/>
        </p:nvSpPr>
        <p:spPr>
          <a:xfrm>
            <a:off x="2606040" y="3931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+ delivery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92040" y="39319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3B6FA0"/>
          </a:solidFill>
          <a:ln/>
        </p:spPr>
      </p:sp>
      <p:sp>
        <p:nvSpPr>
          <p:cNvPr id="15" name="Text 12"/>
          <p:cNvSpPr/>
          <p:nvPr/>
        </p:nvSpPr>
        <p:spPr>
          <a:xfrm>
            <a:off x="4892040" y="3931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03720" y="39319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3B6FA0"/>
          </a:solidFill>
          <a:ln/>
        </p:spPr>
      </p:sp>
      <p:sp>
        <p:nvSpPr>
          <p:cNvPr id="17" name="Text 14"/>
          <p:cNvSpPr/>
          <p:nvPr/>
        </p:nvSpPr>
        <p:spPr>
          <a:xfrm>
            <a:off x="6903720" y="3931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732520" y="393192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3B6FA0"/>
          </a:solidFill>
          <a:ln/>
        </p:spPr>
      </p:sp>
      <p:sp>
        <p:nvSpPr>
          <p:cNvPr id="19" name="Text 16"/>
          <p:cNvSpPr/>
          <p:nvPr/>
        </p:nvSpPr>
        <p:spPr>
          <a:xfrm>
            <a:off x="8732520" y="3931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+ MFA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4008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Buyer conversation  ·  No list price on this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2318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945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BEFORE THE STEERING COMMITTEE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5303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systems. One story that never quite matches.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18872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E8EEF6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1280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5488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by email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59152" y="1664208"/>
            <a:ext cx="347472" cy="256032"/>
          </a:xfrm>
          <a:prstGeom prst="rightArrow">
            <a:avLst/>
          </a:prstGeom>
          <a:solidFill>
            <a:srgbClr val="C5D0DE"/>
          </a:solidFill>
          <a:ln/>
        </p:spPr>
      </p:sp>
      <p:sp>
        <p:nvSpPr>
          <p:cNvPr id="12" name="Shape 9"/>
          <p:cNvSpPr/>
          <p:nvPr/>
        </p:nvSpPr>
        <p:spPr>
          <a:xfrm>
            <a:off x="2743200" y="118872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E8EEF6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52928" y="1280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852928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ERP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852928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lag weeks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36592" y="1664208"/>
            <a:ext cx="347472" cy="256032"/>
          </a:xfrm>
          <a:prstGeom prst="rightArrow">
            <a:avLst/>
          </a:prstGeom>
          <a:solidFill>
            <a:srgbClr val="C5D0DE"/>
          </a:solidFill>
          <a:ln/>
        </p:spPr>
      </p:sp>
      <p:sp>
        <p:nvSpPr>
          <p:cNvPr id="17" name="Shape 14"/>
          <p:cNvSpPr/>
          <p:nvPr/>
        </p:nvSpPr>
        <p:spPr>
          <a:xfrm>
            <a:off x="5120640" y="118872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E8EEF6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30368" y="1280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30368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230368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without $ 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114032" y="1664208"/>
            <a:ext cx="347472" cy="256032"/>
          </a:xfrm>
          <a:prstGeom prst="rightArrow">
            <a:avLst/>
          </a:prstGeom>
          <a:solidFill>
            <a:srgbClr val="C5D0DE"/>
          </a:solidFill>
          <a:ln/>
        </p:spPr>
      </p:sp>
      <p:sp>
        <p:nvSpPr>
          <p:cNvPr id="22" name="Shape 19"/>
          <p:cNvSpPr/>
          <p:nvPr/>
        </p:nvSpPr>
        <p:spPr>
          <a:xfrm>
            <a:off x="7498080" y="118872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E8EEF6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07808" y="1280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607808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email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607808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vanish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491472" y="1664208"/>
            <a:ext cx="347472" cy="256032"/>
          </a:xfrm>
          <a:prstGeom prst="rightArrow">
            <a:avLst/>
          </a:prstGeom>
          <a:solidFill>
            <a:srgbClr val="C5D0DE"/>
          </a:solidFill>
          <a:ln/>
        </p:spPr>
      </p:sp>
      <p:sp>
        <p:nvSpPr>
          <p:cNvPr id="27" name="Shape 24"/>
          <p:cNvSpPr/>
          <p:nvPr/>
        </p:nvSpPr>
        <p:spPr>
          <a:xfrm>
            <a:off x="9875520" y="118872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E8EEF6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985248" y="1280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985248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factory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985248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rebuild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65760" y="2697480"/>
            <a:ext cx="11430000" cy="640080"/>
          </a:xfrm>
          <a:prstGeom prst="roundRect">
            <a:avLst>
              <a:gd name="adj" fmla="val 11429"/>
            </a:avLst>
          </a:prstGeom>
          <a:solidFill>
            <a:srgbClr val="F8E8E6"/>
          </a:solidFill>
          <a:ln/>
        </p:spPr>
      </p:sp>
      <p:sp>
        <p:nvSpPr>
          <p:cNvPr id="32" name="Text 29"/>
          <p:cNvSpPr/>
          <p:nvPr/>
        </p:nvSpPr>
        <p:spPr>
          <a:xfrm>
            <a:off x="548640" y="2834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→  RAG without a formula   ·   Forecasts that do not match invoices   ·   Board packs that are already stale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365760" y="361188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30352" y="379476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0F1B3D"/>
          </a:solidFill>
          <a:ln/>
        </p:spPr>
      </p:sp>
      <p:sp>
        <p:nvSpPr>
          <p:cNvPr id="35" name="Text 32"/>
          <p:cNvSpPr/>
          <p:nvPr/>
        </p:nvSpPr>
        <p:spPr>
          <a:xfrm>
            <a:off x="530352" y="37947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30352" y="42062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five sources before every forum.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3291840" y="361188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456432" y="379476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0F1B3D"/>
          </a:solidFill>
          <a:ln/>
        </p:spPr>
      </p:sp>
      <p:sp>
        <p:nvSpPr>
          <p:cNvPr id="39" name="Text 36"/>
          <p:cNvSpPr/>
          <p:nvPr/>
        </p:nvSpPr>
        <p:spPr>
          <a:xfrm>
            <a:off x="3456432" y="37947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3456432" y="42062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burn vs invoice vs forecast in one line.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217920" y="361188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382512" y="379476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0F1B3D"/>
          </a:solidFill>
          <a:ln/>
        </p:spPr>
      </p:sp>
      <p:sp>
        <p:nvSpPr>
          <p:cNvPr id="43" name="Text 40"/>
          <p:cNvSpPr/>
          <p:nvPr/>
        </p:nvSpPr>
        <p:spPr>
          <a:xfrm>
            <a:off x="6382512" y="37947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382512" y="42062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system of record for the change portfolio.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9144000" y="3611880"/>
            <a:ext cx="27889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308592" y="379476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0F1B3D"/>
          </a:solidFill>
          <a:ln/>
        </p:spPr>
      </p:sp>
      <p:sp>
        <p:nvSpPr>
          <p:cNvPr id="47" name="Text 44"/>
          <p:cNvSpPr/>
          <p:nvPr/>
        </p:nvSpPr>
        <p:spPr>
          <a:xfrm>
            <a:off x="9308592" y="37947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9308592" y="42062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and shadow IT sit outside the audit trail.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50" name="Text 47"/>
          <p:cNvSpPr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 ·  Confidential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945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LOOP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5303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 →  Explain  →  Govern  →  See again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143000"/>
            <a:ext cx="3703320" cy="777240"/>
          </a:xfrm>
          <a:prstGeom prst="chevron">
            <a:avLst/>
          </a:prstGeom>
          <a:solidFill>
            <a:srgbClr val="0F1B3D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" y="1216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SEE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14538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RAG. One money line.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794760" y="1143000"/>
            <a:ext cx="4160520" cy="777240"/>
          </a:xfrm>
          <a:prstGeom prst="chevron">
            <a:avLst/>
          </a:prstGeom>
          <a:solidFill>
            <a:srgbClr val="3B6FA0"/>
          </a:solidFill>
          <a:ln/>
        </p:spPr>
      </p:sp>
      <p:sp>
        <p:nvSpPr>
          <p:cNvPr id="11" name="Text 8"/>
          <p:cNvSpPr/>
          <p:nvPr/>
        </p:nvSpPr>
        <p:spPr>
          <a:xfrm>
            <a:off x="3904488" y="1216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EXPLAIN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04488" y="1453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Formula, not folklore.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680960" y="1143000"/>
            <a:ext cx="4114800" cy="777240"/>
          </a:xfrm>
          <a:prstGeom prst="chevron">
            <a:avLst/>
          </a:prstGeom>
          <a:solidFill>
            <a:srgbClr val="1E4A7A"/>
          </a:solidFill>
          <a:ln/>
        </p:spPr>
      </p:sp>
      <p:sp>
        <p:nvSpPr>
          <p:cNvPr id="14" name="Text 11"/>
          <p:cNvSpPr/>
          <p:nvPr/>
        </p:nvSpPr>
        <p:spPr>
          <a:xfrm>
            <a:off x="7790688" y="12161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GOVERN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90688" y="14538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+ evidence.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2194560"/>
            <a:ext cx="3749040" cy="40690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21792" y="2980944"/>
            <a:ext cx="201168" cy="201168"/>
          </a:xfrm>
          <a:prstGeom prst="ellipse">
            <a:avLst/>
          </a:prstGeom>
          <a:solidFill>
            <a:srgbClr val="3B6FA0"/>
          </a:solidFill>
          <a:ln/>
        </p:spPr>
      </p:sp>
      <p:sp>
        <p:nvSpPr>
          <p:cNvPr id="19" name="Text 16"/>
          <p:cNvSpPr/>
          <p:nvPr/>
        </p:nvSpPr>
        <p:spPr>
          <a:xfrm>
            <a:off x="932688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RAG on one wall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21792" y="3712464"/>
            <a:ext cx="201168" cy="201168"/>
          </a:xfrm>
          <a:prstGeom prst="ellipse">
            <a:avLst/>
          </a:prstGeom>
          <a:solidFill>
            <a:srgbClr val="3B6FA0"/>
          </a:solidFill>
          <a:ln/>
        </p:spPr>
      </p:sp>
      <p:sp>
        <p:nvSpPr>
          <p:cNvPr id="21" name="Text 18"/>
          <p:cNvSpPr/>
          <p:nvPr/>
        </p:nvSpPr>
        <p:spPr>
          <a:xfrm>
            <a:off x="932688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vs actual vs forecast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" y="4443984"/>
            <a:ext cx="201168" cy="201168"/>
          </a:xfrm>
          <a:prstGeom prst="ellipse">
            <a:avLst/>
          </a:prstGeom>
          <a:solidFill>
            <a:srgbClr val="3B6FA0"/>
          </a:solidFill>
          <a:ln/>
        </p:spPr>
      </p:sp>
      <p:sp>
        <p:nvSpPr>
          <p:cNvPr id="23" name="Text 20"/>
          <p:cNvSpPr/>
          <p:nvPr/>
        </p:nvSpPr>
        <p:spPr>
          <a:xfrm>
            <a:off x="932688" y="4389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heat next to $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21792" y="5175504"/>
            <a:ext cx="201168" cy="201168"/>
          </a:xfrm>
          <a:prstGeom prst="ellipse">
            <a:avLst/>
          </a:prstGeom>
          <a:solidFill>
            <a:srgbClr val="3B6FA0"/>
          </a:solidFill>
          <a:ln/>
        </p:spPr>
      </p:sp>
      <p:sp>
        <p:nvSpPr>
          <p:cNvPr id="25" name="Text 22"/>
          <p:cNvSpPr/>
          <p:nvPr/>
        </p:nvSpPr>
        <p:spPr>
          <a:xfrm>
            <a:off x="932688" y="5120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board pack, not a rebuild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297680" y="2194560"/>
            <a:ext cx="3749040" cy="4069080"/>
          </a:xfrm>
          <a:prstGeom prst="roundRect">
            <a:avLst>
              <a:gd name="adj" fmla="val 2927"/>
            </a:avLst>
          </a:prstGeom>
          <a:solidFill>
            <a:srgbClr val="E8EEF6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4553712" y="2980944"/>
            <a:ext cx="201168" cy="201168"/>
          </a:xfrm>
          <a:prstGeom prst="ellipse">
            <a:avLst/>
          </a:prstGeom>
          <a:solidFill>
            <a:srgbClr val="3B6FA0"/>
          </a:solidFill>
          <a:ln/>
        </p:spPr>
      </p:sp>
      <p:sp>
        <p:nvSpPr>
          <p:cNvPr id="29" name="Text 26"/>
          <p:cNvSpPr/>
          <p:nvPr/>
        </p:nvSpPr>
        <p:spPr>
          <a:xfrm>
            <a:off x="4864608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Engine weights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4553712" y="3712464"/>
            <a:ext cx="201168" cy="201168"/>
          </a:xfrm>
          <a:prstGeom prst="ellipse">
            <a:avLst/>
          </a:prstGeom>
          <a:solidFill>
            <a:srgbClr val="3B6FA0"/>
          </a:solidFill>
          <a:ln/>
        </p:spPr>
      </p:sp>
      <p:sp>
        <p:nvSpPr>
          <p:cNvPr id="31" name="Text 28"/>
          <p:cNvSpPr/>
          <p:nvPr/>
        </p:nvSpPr>
        <p:spPr>
          <a:xfrm>
            <a:off x="4864608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math: 80 / 65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4553712" y="4443984"/>
            <a:ext cx="201168" cy="201168"/>
          </a:xfrm>
          <a:prstGeom prst="ellipse">
            <a:avLst/>
          </a:prstGeom>
          <a:solidFill>
            <a:srgbClr val="3B6FA0"/>
          </a:solidFill>
          <a:ln/>
        </p:spPr>
      </p:sp>
      <p:sp>
        <p:nvSpPr>
          <p:cNvPr id="33" name="Text 30"/>
          <p:cNvSpPr/>
          <p:nvPr/>
        </p:nvSpPr>
        <p:spPr>
          <a:xfrm>
            <a:off x="4864608" y="4389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vs timesheet vs plan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4553712" y="5175504"/>
            <a:ext cx="201168" cy="201168"/>
          </a:xfrm>
          <a:prstGeom prst="ellipse">
            <a:avLst/>
          </a:prstGeom>
          <a:solidFill>
            <a:srgbClr val="3B6FA0"/>
          </a:solidFill>
          <a:ln/>
        </p:spPr>
      </p:sp>
      <p:sp>
        <p:nvSpPr>
          <p:cNvPr id="35" name="Text 32"/>
          <p:cNvSpPr/>
          <p:nvPr/>
        </p:nvSpPr>
        <p:spPr>
          <a:xfrm>
            <a:off x="4864608" y="5120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from tile to transaction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8229600" y="2194560"/>
            <a:ext cx="3749040" cy="40690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45820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8485632" y="2980944"/>
            <a:ext cx="201168" cy="201168"/>
          </a:xfrm>
          <a:prstGeom prst="ellipse">
            <a:avLst/>
          </a:prstGeom>
          <a:solidFill>
            <a:srgbClr val="3B6FA0"/>
          </a:solidFill>
          <a:ln/>
        </p:spPr>
      </p:sp>
      <p:sp>
        <p:nvSpPr>
          <p:cNvPr id="39" name="Text 36"/>
          <p:cNvSpPr/>
          <p:nvPr/>
        </p:nvSpPr>
        <p:spPr>
          <a:xfrm>
            <a:off x="8796528" y="2926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 + evidence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8485632" y="3712464"/>
            <a:ext cx="201168" cy="201168"/>
          </a:xfrm>
          <a:prstGeom prst="ellipse">
            <a:avLst/>
          </a:prstGeom>
          <a:solidFill>
            <a:srgbClr val="3B6FA0"/>
          </a:solidFill>
          <a:ln/>
        </p:spPr>
      </p:sp>
      <p:sp>
        <p:nvSpPr>
          <p:cNvPr id="41" name="Text 38"/>
          <p:cNvSpPr/>
          <p:nvPr/>
        </p:nvSpPr>
        <p:spPr>
          <a:xfrm>
            <a:off x="8796528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queue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8485632" y="4443984"/>
            <a:ext cx="201168" cy="201168"/>
          </a:xfrm>
          <a:prstGeom prst="ellipse">
            <a:avLst/>
          </a:prstGeom>
          <a:solidFill>
            <a:srgbClr val="3B6FA0"/>
          </a:solidFill>
          <a:ln/>
        </p:spPr>
      </p:sp>
      <p:sp>
        <p:nvSpPr>
          <p:cNvPr id="43" name="Text 40"/>
          <p:cNvSpPr/>
          <p:nvPr/>
        </p:nvSpPr>
        <p:spPr>
          <a:xfrm>
            <a:off x="8796528" y="4389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+ access audit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8485632" y="5175504"/>
            <a:ext cx="201168" cy="201168"/>
          </a:xfrm>
          <a:prstGeom prst="ellipse">
            <a:avLst/>
          </a:prstGeom>
          <a:solidFill>
            <a:srgbClr val="3B6FA0"/>
          </a:solidFill>
          <a:ln/>
        </p:spPr>
      </p:sp>
      <p:sp>
        <p:nvSpPr>
          <p:cNvPr id="45" name="Text 42"/>
          <p:cNvSpPr/>
          <p:nvPr/>
        </p:nvSpPr>
        <p:spPr>
          <a:xfrm>
            <a:off x="8796528" y="5120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MFA, tenant isolation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7" name="Text 44"/>
          <p:cNvSpPr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 ·  Confidential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4F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945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ENGINE  ·  THE SPECTRUM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5303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score. Same bands. Every tenant.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B42318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0" y="114300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B8860B"/>
          </a:solidFill>
          <a:ln/>
        </p:spPr>
      </p:sp>
      <p:sp>
        <p:nvSpPr>
          <p:cNvPr id="9" name="Shape 6"/>
          <p:cNvSpPr/>
          <p:nvPr/>
        </p:nvSpPr>
        <p:spPr>
          <a:xfrm>
            <a:off x="7223760" y="114300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2E7D4F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2070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  &lt; 65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0" y="12070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  65–79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223760" y="12070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  ≥ 80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1480" y="1719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00600" y="17190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95160" y="17190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338560" y="17190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2103120"/>
            <a:ext cx="3749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2103120"/>
            <a:ext cx="109728" cy="169164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" y="2267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58368" y="26517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cost, or risk is off the formula. Open the exception — do not debate the colour.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297680" y="2103120"/>
            <a:ext cx="3749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97680" y="2103120"/>
            <a:ext cx="109728" cy="16916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3" name="Text 20"/>
          <p:cNvSpPr/>
          <p:nvPr/>
        </p:nvSpPr>
        <p:spPr>
          <a:xfrm>
            <a:off x="4590288" y="2267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590288" y="26517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dimensions are slipping. Name the owner and the next evidence date.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229600" y="2103120"/>
            <a:ext cx="3749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29600" y="2103120"/>
            <a:ext cx="109728" cy="1691640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27" name="Text 24"/>
          <p:cNvSpPr/>
          <p:nvPr/>
        </p:nvSpPr>
        <p:spPr>
          <a:xfrm>
            <a:off x="8522208" y="2267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8522208" y="265176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cadence. Do not spend the forum on green projects.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65760" y="4023360"/>
            <a:ext cx="11430000" cy="228600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4160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IN THE ROOM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94360" y="4572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folklore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94360" y="49377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is 65–79. Not “feels amber”.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429000" y="4572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3429000" y="49377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A and B use the same weights.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263640" y="4572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263640" y="49377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chip opens the contributing scores.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9098280" y="4572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Governable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098280" y="49377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without an owner is the exception.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0" name="Text 37"/>
          <p:cNvSpPr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 ·  Confidential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945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DIMENSIONS  ·  ONE COMPOSITE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53035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is a formula — not a mood.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11480" y="10972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23160" y="1133856"/>
            <a:ext cx="3108960" cy="146304"/>
          </a:xfrm>
          <a:prstGeom prst="roundRect">
            <a:avLst>
              <a:gd name="adj" fmla="val 25000"/>
            </a:avLst>
          </a:prstGeom>
          <a:solidFill>
            <a:srgbClr val="E8EEF6"/>
          </a:solidFill>
          <a:ln/>
        </p:spPr>
      </p:sp>
      <p:sp>
        <p:nvSpPr>
          <p:cNvPr id="9" name="Shape 6"/>
          <p:cNvSpPr/>
          <p:nvPr/>
        </p:nvSpPr>
        <p:spPr>
          <a:xfrm>
            <a:off x="2423160" y="1133856"/>
            <a:ext cx="3108960" cy="146304"/>
          </a:xfrm>
          <a:prstGeom prst="roundRect">
            <a:avLst>
              <a:gd name="adj" fmla="val 25000"/>
            </a:avLst>
          </a:prstGeom>
          <a:solidFill>
            <a:srgbClr val="3B6FA0"/>
          </a:solidFill>
          <a:ln/>
        </p:spPr>
      </p:sp>
      <p:sp>
        <p:nvSpPr>
          <p:cNvPr id="10" name="Text 7"/>
          <p:cNvSpPr/>
          <p:nvPr/>
        </p:nvSpPr>
        <p:spPr>
          <a:xfrm>
            <a:off x="5577840" y="10972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175564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23160" y="1792224"/>
            <a:ext cx="3108960" cy="146304"/>
          </a:xfrm>
          <a:prstGeom prst="roundRect">
            <a:avLst>
              <a:gd name="adj" fmla="val 25000"/>
            </a:avLst>
          </a:prstGeom>
          <a:solidFill>
            <a:srgbClr val="E8EEF6"/>
          </a:solidFill>
          <a:ln/>
        </p:spPr>
      </p:sp>
      <p:sp>
        <p:nvSpPr>
          <p:cNvPr id="13" name="Shape 10"/>
          <p:cNvSpPr/>
          <p:nvPr/>
        </p:nvSpPr>
        <p:spPr>
          <a:xfrm>
            <a:off x="2423160" y="1792224"/>
            <a:ext cx="3108960" cy="146304"/>
          </a:xfrm>
          <a:prstGeom prst="roundRect">
            <a:avLst>
              <a:gd name="adj" fmla="val 25000"/>
            </a:avLst>
          </a:prstGeom>
          <a:solidFill>
            <a:srgbClr val="3B6FA0"/>
          </a:solidFill>
          <a:ln/>
        </p:spPr>
      </p:sp>
      <p:sp>
        <p:nvSpPr>
          <p:cNvPr id="14" name="Text 11"/>
          <p:cNvSpPr/>
          <p:nvPr/>
        </p:nvSpPr>
        <p:spPr>
          <a:xfrm>
            <a:off x="5577840" y="17556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11480" y="24140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423160" y="2450592"/>
            <a:ext cx="3108960" cy="146304"/>
          </a:xfrm>
          <a:prstGeom prst="roundRect">
            <a:avLst>
              <a:gd name="adj" fmla="val 25000"/>
            </a:avLst>
          </a:prstGeom>
          <a:solidFill>
            <a:srgbClr val="E8EEF6"/>
          </a:solidFill>
          <a:ln/>
        </p:spPr>
      </p:sp>
      <p:sp>
        <p:nvSpPr>
          <p:cNvPr id="17" name="Shape 14"/>
          <p:cNvSpPr/>
          <p:nvPr/>
        </p:nvSpPr>
        <p:spPr>
          <a:xfrm>
            <a:off x="2423160" y="2450592"/>
            <a:ext cx="2331720" cy="146304"/>
          </a:xfrm>
          <a:prstGeom prst="roundRect">
            <a:avLst>
              <a:gd name="adj" fmla="val 25000"/>
            </a:avLst>
          </a:prstGeom>
          <a:solidFill>
            <a:srgbClr val="5B8EC4"/>
          </a:solidFill>
          <a:ln/>
        </p:spPr>
      </p:sp>
      <p:sp>
        <p:nvSpPr>
          <p:cNvPr id="18" name="Text 15"/>
          <p:cNvSpPr/>
          <p:nvPr/>
        </p:nvSpPr>
        <p:spPr>
          <a:xfrm>
            <a:off x="5577840" y="24140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11480" y="30723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423160" y="3108960"/>
            <a:ext cx="3108960" cy="146304"/>
          </a:xfrm>
          <a:prstGeom prst="roundRect">
            <a:avLst>
              <a:gd name="adj" fmla="val 25000"/>
            </a:avLst>
          </a:prstGeom>
          <a:solidFill>
            <a:srgbClr val="E8EEF6"/>
          </a:solidFill>
          <a:ln/>
        </p:spPr>
      </p:sp>
      <p:sp>
        <p:nvSpPr>
          <p:cNvPr id="21" name="Shape 18"/>
          <p:cNvSpPr/>
          <p:nvPr/>
        </p:nvSpPr>
        <p:spPr>
          <a:xfrm>
            <a:off x="2423160" y="3108960"/>
            <a:ext cx="1554480" cy="146304"/>
          </a:xfrm>
          <a:prstGeom prst="roundRect">
            <a:avLst>
              <a:gd name="adj" fmla="val 25000"/>
            </a:avLst>
          </a:prstGeom>
          <a:solidFill>
            <a:srgbClr val="5B8EC4"/>
          </a:solidFill>
          <a:ln/>
        </p:spPr>
      </p:sp>
      <p:sp>
        <p:nvSpPr>
          <p:cNvPr id="22" name="Text 19"/>
          <p:cNvSpPr/>
          <p:nvPr/>
        </p:nvSpPr>
        <p:spPr>
          <a:xfrm>
            <a:off x="5577840" y="30723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55080" y="10972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366760" y="1133856"/>
            <a:ext cx="3108960" cy="146304"/>
          </a:xfrm>
          <a:prstGeom prst="roundRect">
            <a:avLst>
              <a:gd name="adj" fmla="val 25000"/>
            </a:avLst>
          </a:prstGeom>
          <a:solidFill>
            <a:srgbClr val="E8EEF6"/>
          </a:solidFill>
          <a:ln/>
        </p:spPr>
      </p:sp>
      <p:sp>
        <p:nvSpPr>
          <p:cNvPr id="25" name="Shape 22"/>
          <p:cNvSpPr/>
          <p:nvPr/>
        </p:nvSpPr>
        <p:spPr>
          <a:xfrm>
            <a:off x="8366760" y="1133856"/>
            <a:ext cx="1554480" cy="146304"/>
          </a:xfrm>
          <a:prstGeom prst="roundRect">
            <a:avLst>
              <a:gd name="adj" fmla="val 25000"/>
            </a:avLst>
          </a:prstGeom>
          <a:solidFill>
            <a:srgbClr val="7BA3C9"/>
          </a:solidFill>
          <a:ln/>
        </p:spPr>
      </p:sp>
      <p:sp>
        <p:nvSpPr>
          <p:cNvPr id="26" name="Text 23"/>
          <p:cNvSpPr/>
          <p:nvPr/>
        </p:nvSpPr>
        <p:spPr>
          <a:xfrm>
            <a:off x="11521440" y="109728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355080" y="175564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366760" y="1792224"/>
            <a:ext cx="3108960" cy="146304"/>
          </a:xfrm>
          <a:prstGeom prst="roundRect">
            <a:avLst>
              <a:gd name="adj" fmla="val 25000"/>
            </a:avLst>
          </a:prstGeom>
          <a:solidFill>
            <a:srgbClr val="E8EEF6"/>
          </a:solidFill>
          <a:ln/>
        </p:spPr>
      </p:sp>
      <p:sp>
        <p:nvSpPr>
          <p:cNvPr id="29" name="Shape 26"/>
          <p:cNvSpPr/>
          <p:nvPr/>
        </p:nvSpPr>
        <p:spPr>
          <a:xfrm>
            <a:off x="8366760" y="1792224"/>
            <a:ext cx="1554480" cy="146304"/>
          </a:xfrm>
          <a:prstGeom prst="roundRect">
            <a:avLst>
              <a:gd name="adj" fmla="val 25000"/>
            </a:avLst>
          </a:prstGeom>
          <a:solidFill>
            <a:srgbClr val="7BA3C9"/>
          </a:solidFill>
          <a:ln/>
        </p:spPr>
      </p:sp>
      <p:sp>
        <p:nvSpPr>
          <p:cNvPr id="30" name="Text 27"/>
          <p:cNvSpPr/>
          <p:nvPr/>
        </p:nvSpPr>
        <p:spPr>
          <a:xfrm>
            <a:off x="11521440" y="17556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355080" y="24140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366760" y="2450592"/>
            <a:ext cx="3108960" cy="146304"/>
          </a:xfrm>
          <a:prstGeom prst="roundRect">
            <a:avLst>
              <a:gd name="adj" fmla="val 25000"/>
            </a:avLst>
          </a:prstGeom>
          <a:solidFill>
            <a:srgbClr val="E8EEF6"/>
          </a:solidFill>
          <a:ln/>
        </p:spPr>
      </p:sp>
      <p:sp>
        <p:nvSpPr>
          <p:cNvPr id="33" name="Shape 30"/>
          <p:cNvSpPr/>
          <p:nvPr/>
        </p:nvSpPr>
        <p:spPr>
          <a:xfrm>
            <a:off x="8366760" y="2450592"/>
            <a:ext cx="1554480" cy="146304"/>
          </a:xfrm>
          <a:prstGeom prst="roundRect">
            <a:avLst>
              <a:gd name="adj" fmla="val 25000"/>
            </a:avLst>
          </a:prstGeom>
          <a:solidFill>
            <a:srgbClr val="4A7FA8"/>
          </a:solidFill>
          <a:ln/>
        </p:spPr>
      </p:sp>
      <p:sp>
        <p:nvSpPr>
          <p:cNvPr id="34" name="Text 31"/>
          <p:cNvSpPr/>
          <p:nvPr/>
        </p:nvSpPr>
        <p:spPr>
          <a:xfrm>
            <a:off x="11521440" y="24140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355080" y="30723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366760" y="3108960"/>
            <a:ext cx="3108960" cy="146304"/>
          </a:xfrm>
          <a:prstGeom prst="roundRect">
            <a:avLst>
              <a:gd name="adj" fmla="val 25000"/>
            </a:avLst>
          </a:prstGeom>
          <a:solidFill>
            <a:srgbClr val="E8EEF6"/>
          </a:solidFill>
          <a:ln/>
        </p:spPr>
      </p:sp>
      <p:sp>
        <p:nvSpPr>
          <p:cNvPr id="37" name="Shape 34"/>
          <p:cNvSpPr/>
          <p:nvPr/>
        </p:nvSpPr>
        <p:spPr>
          <a:xfrm>
            <a:off x="8366760" y="3108960"/>
            <a:ext cx="777240" cy="146304"/>
          </a:xfrm>
          <a:prstGeom prst="roundRect">
            <a:avLst>
              <a:gd name="adj" fmla="val 25000"/>
            </a:avLst>
          </a:prstGeom>
          <a:solidFill>
            <a:srgbClr val="4A7FA8"/>
          </a:solidFill>
          <a:ln/>
        </p:spPr>
      </p:sp>
      <p:sp>
        <p:nvSpPr>
          <p:cNvPr id="38" name="Text 35"/>
          <p:cNvSpPr/>
          <p:nvPr/>
        </p:nvSpPr>
        <p:spPr>
          <a:xfrm>
            <a:off x="11521440" y="30723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65760" y="3840480"/>
            <a:ext cx="11430000" cy="2468880"/>
          </a:xfrm>
          <a:prstGeom prst="roundRect">
            <a:avLst>
              <a:gd name="adj" fmla="val 3704"/>
            </a:avLst>
          </a:prstGeom>
          <a:solidFill>
            <a:srgbClr val="0F1B3D"/>
          </a:solidFill>
          <a:ln/>
        </p:spPr>
      </p:sp>
      <p:sp>
        <p:nvSpPr>
          <p:cNvPr id="40" name="Text 37"/>
          <p:cNvSpPr/>
          <p:nvPr/>
        </p:nvSpPr>
        <p:spPr>
          <a:xfrm>
            <a:off x="640080" y="4023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WITH A BUYER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40080" y="4434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published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40080" y="4983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cost carry more. That is a product choice you can defend.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3429000" y="4434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cost + red schedule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429000" y="4983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still a conversation — the composite will not hide the red.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217920" y="4434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in the score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6217920" y="4983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side spreadsheet. Delivery → Resources feeds the same picture.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9006840" y="4434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Explain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9006840" y="4983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chip opens the contributing dimensions. That is the demo closer.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50" name="Text 47"/>
          <p:cNvSpPr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 ·  Confidential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945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HUB  ·  THE WORK ALREADY IN THE PRODUCT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50292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slide about a future platform.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709160" y="2331720"/>
            <a:ext cx="2743200" cy="2743200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8" name="Text 5"/>
          <p:cNvSpPr/>
          <p:nvPr/>
        </p:nvSpPr>
        <p:spPr>
          <a:xfrm>
            <a:off x="4846320" y="29718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105156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E8EEF6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1612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RAID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owners, dates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105156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E8EEF6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612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8328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· forecast · actual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105156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E8EEF6"/>
          </a:solidFill>
          <a:ln/>
        </p:spPr>
      </p:sp>
      <p:sp>
        <p:nvSpPr>
          <p:cNvPr id="16" name="Text 13"/>
          <p:cNvSpPr/>
          <p:nvPr/>
        </p:nvSpPr>
        <p:spPr>
          <a:xfrm>
            <a:off x="6263640" y="11612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26364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that hit the $ line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006840" y="105156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E8EEF6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0" y="11612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vs actual · skills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5760" y="521208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E8EEF6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" y="53218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Engine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" y="5669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dimensions · 3 bands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46120" y="521208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E8EEF6"/>
          </a:solidFill>
          <a:ln/>
        </p:spPr>
      </p:sp>
      <p:sp>
        <p:nvSpPr>
          <p:cNvPr id="25" name="Text 22"/>
          <p:cNvSpPr/>
          <p:nvPr/>
        </p:nvSpPr>
        <p:spPr>
          <a:xfrm>
            <a:off x="3383280" y="53218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383280" y="5669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not rebuilt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126480" y="521208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E8EEF6"/>
          </a:solidFill>
          <a:ln/>
        </p:spPr>
      </p:sp>
      <p:sp>
        <p:nvSpPr>
          <p:cNvPr id="28" name="Text 25"/>
          <p:cNvSpPr/>
          <p:nvPr/>
        </p:nvSpPr>
        <p:spPr>
          <a:xfrm>
            <a:off x="6263640" y="53218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263640" y="5669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+ evidence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006840" y="5212080"/>
            <a:ext cx="2697480" cy="960120"/>
          </a:xfrm>
          <a:prstGeom prst="roundRect">
            <a:avLst>
              <a:gd name="adj" fmla="val 9524"/>
            </a:avLst>
          </a:prstGeom>
          <a:solidFill>
            <a:srgbClr val="E8EEF6"/>
          </a:solidFill>
          <a:ln/>
        </p:spPr>
      </p:sp>
      <p:sp>
        <p:nvSpPr>
          <p:cNvPr id="31" name="Text 28"/>
          <p:cNvSpPr/>
          <p:nvPr/>
        </p:nvSpPr>
        <p:spPr>
          <a:xfrm>
            <a:off x="9144000" y="53218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144000" y="56692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MFA · audit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4" name="Text 31"/>
          <p:cNvSpPr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 ·  Confidential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945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LINE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53035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actual, forecast, invoice — one conversation.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" y="1097280"/>
            <a:ext cx="2926080" cy="960120"/>
          </a:xfrm>
          <a:prstGeom prst="chevron">
            <a:avLst/>
          </a:prstGeom>
          <a:solidFill>
            <a:srgbClr val="0F1B3D"/>
          </a:solidFill>
          <a:ln/>
        </p:spPr>
      </p:sp>
      <p:sp>
        <p:nvSpPr>
          <p:cNvPr id="8" name="Text 5"/>
          <p:cNvSpPr/>
          <p:nvPr/>
        </p:nvSpPr>
        <p:spPr>
          <a:xfrm>
            <a:off x="429768" y="11704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" y="140817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$ and hours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017520" y="1097280"/>
            <a:ext cx="3017520" cy="960120"/>
          </a:xfrm>
          <a:prstGeom prst="chevron">
            <a:avLst/>
          </a:prstGeom>
          <a:solidFill>
            <a:srgbClr val="3B6FA0"/>
          </a:solidFill>
          <a:ln/>
        </p:spPr>
      </p:sp>
      <p:sp>
        <p:nvSpPr>
          <p:cNvPr id="11" name="Text 8"/>
          <p:cNvSpPr/>
          <p:nvPr/>
        </p:nvSpPr>
        <p:spPr>
          <a:xfrm>
            <a:off x="3127248" y="11704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27248" y="140817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 + cost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06440" y="1097280"/>
            <a:ext cx="3017520" cy="960120"/>
          </a:xfrm>
          <a:prstGeom prst="chevron">
            <a:avLst/>
          </a:prstGeom>
          <a:solidFill>
            <a:srgbClr val="1E4A7A"/>
          </a:solidFill>
          <a:ln/>
        </p:spPr>
      </p:sp>
      <p:sp>
        <p:nvSpPr>
          <p:cNvPr id="14" name="Text 11"/>
          <p:cNvSpPr/>
          <p:nvPr/>
        </p:nvSpPr>
        <p:spPr>
          <a:xfrm>
            <a:off x="5916168" y="11704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16168" y="140817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to complete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595360" y="1097280"/>
            <a:ext cx="3246120" cy="960120"/>
          </a:xfrm>
          <a:prstGeom prst="chevron">
            <a:avLst/>
          </a:prstGeom>
          <a:solidFill>
            <a:srgbClr val="0A3A5C"/>
          </a:solidFill>
          <a:ln/>
        </p:spPr>
      </p:sp>
      <p:sp>
        <p:nvSpPr>
          <p:cNvPr id="17" name="Text 14"/>
          <p:cNvSpPr/>
          <p:nvPr/>
        </p:nvSpPr>
        <p:spPr>
          <a:xfrm>
            <a:off x="8705088" y="1170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05088" y="14081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client sees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" y="2331720"/>
            <a:ext cx="5715000" cy="1828800"/>
          </a:xfrm>
          <a:prstGeom prst="roundRect">
            <a:avLst>
              <a:gd name="adj" fmla="val 5000"/>
            </a:avLst>
          </a:prstGeom>
          <a:solidFill>
            <a:srgbClr val="E8EEF6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253288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is a first-class object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94360" y="30175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cell in a hidden tab. Plan vs actual % sits on the project infographic and the executive view.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263640" y="2331720"/>
            <a:ext cx="5715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92240" y="253288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become money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92240" y="30175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 utilisation is not a separate product. It feeds the same line the CFO reads.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65760" y="4297680"/>
            <a:ext cx="5715000" cy="1828800"/>
          </a:xfrm>
          <a:prstGeom prst="roundRect">
            <a:avLst>
              <a:gd name="adj" fmla="val 5000"/>
            </a:avLst>
          </a:prstGeom>
          <a:solidFill>
            <a:srgbClr val="E8EEF6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449884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gaps are visible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94360" y="498348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Intelligence and Delivery → Resources show heat next to the dollar — not after the overrun.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263640" y="4297680"/>
            <a:ext cx="57150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4DD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92240" y="4498848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stay live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492240" y="498348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invoices pick up the current org template. The pack and the bill do not drift.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2" name="Text 29"/>
          <p:cNvSpPr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 ·  Confidential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945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/  AFTER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50292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operating week.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051560"/>
            <a:ext cx="5394960" cy="5257800"/>
          </a:xfrm>
          <a:prstGeom prst="roundRect">
            <a:avLst>
              <a:gd name="adj" fmla="val 2087"/>
            </a:avLst>
          </a:prstGeom>
          <a:solidFill>
            <a:srgbClr val="F7F1F0"/>
          </a:solidFill>
          <a:ln/>
        </p:spPr>
      </p:sp>
      <p:sp>
        <p:nvSpPr>
          <p:cNvPr id="8" name="Shape 5"/>
          <p:cNvSpPr/>
          <p:nvPr/>
        </p:nvSpPr>
        <p:spPr>
          <a:xfrm>
            <a:off x="6446520" y="1051560"/>
            <a:ext cx="5394960" cy="5257800"/>
          </a:xfrm>
          <a:prstGeom prst="roundRect">
            <a:avLst>
              <a:gd name="adj" fmla="val 2087"/>
            </a:avLst>
          </a:prstGeom>
          <a:solidFill>
            <a:srgbClr val="E8F2EC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234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75120" y="1234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iProjectX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1737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RAG is a colour someone typed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24231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Forecast lives in a second file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31089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Board pack is a Sunday rebuild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37947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Decisions sit in email threads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44805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Capacity is a side spreadsheet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080" y="5166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Audit starts when someone asks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720840" y="1737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RAG is a published formula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720840" y="24231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Forecast sits on the money line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720840" y="31089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Board pack is a live view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720840" y="37947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Decision + evidence in the log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720840" y="44805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Capacity is Delivery → Resources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720840" y="5166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Export and access are already logged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4" name="Text 21"/>
          <p:cNvSpPr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 ·  Confidential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945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  ·  FOUR BUYERS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50292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tenant. Different first screen.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097280"/>
            <a:ext cx="2816352" cy="5212080"/>
          </a:xfrm>
          <a:prstGeom prst="roundRect">
            <a:avLst>
              <a:gd name="adj" fmla="val 3896"/>
            </a:avLst>
          </a:prstGeom>
          <a:solidFill>
            <a:srgbClr val="0F1B3D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37160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20116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331720"/>
            <a:ext cx="2450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trust the wall?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38404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2450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Engine + RAID + live pack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19272" y="1097280"/>
            <a:ext cx="2816352" cy="5212080"/>
          </a:xfrm>
          <a:prstGeom prst="roundRect">
            <a:avLst>
              <a:gd name="adj" fmla="val 3896"/>
            </a:avLst>
          </a:prstGeom>
          <a:solidFill>
            <a:srgbClr val="162544"/>
          </a:solidFill>
          <a:ln/>
        </p:spPr>
      </p:sp>
      <p:sp>
        <p:nvSpPr>
          <p:cNvPr id="14" name="Text 11"/>
          <p:cNvSpPr/>
          <p:nvPr/>
        </p:nvSpPr>
        <p:spPr>
          <a:xfrm>
            <a:off x="3502152" y="137160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502152" y="20116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02152" y="2331720"/>
            <a:ext cx="2450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money go?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502152" y="38404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502152" y="4160520"/>
            <a:ext cx="2450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actual · forecast · invoice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72784" y="1097280"/>
            <a:ext cx="2816352" cy="5212080"/>
          </a:xfrm>
          <a:prstGeom prst="roundRect">
            <a:avLst>
              <a:gd name="adj" fmla="val 3896"/>
            </a:avLst>
          </a:prstGeom>
          <a:solidFill>
            <a:srgbClr val="0F1B3D"/>
          </a:solidFill>
          <a:ln/>
        </p:spPr>
      </p:sp>
      <p:sp>
        <p:nvSpPr>
          <p:cNvPr id="20" name="Text 17"/>
          <p:cNvSpPr/>
          <p:nvPr/>
        </p:nvSpPr>
        <p:spPr>
          <a:xfrm>
            <a:off x="6455664" y="137160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55664" y="20116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55664" y="2331720"/>
            <a:ext cx="2450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the system of record?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455664" y="38404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55664" y="4160520"/>
            <a:ext cx="2450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+ capacity + decisions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226296" y="1097280"/>
            <a:ext cx="2816352" cy="5212080"/>
          </a:xfrm>
          <a:prstGeom prst="roundRect">
            <a:avLst>
              <a:gd name="adj" fmla="val 3896"/>
            </a:avLst>
          </a:prstGeom>
          <a:solidFill>
            <a:srgbClr val="162544"/>
          </a:solidFill>
          <a:ln/>
        </p:spPr>
      </p:sp>
      <p:sp>
        <p:nvSpPr>
          <p:cNvPr id="26" name="Text 23"/>
          <p:cNvSpPr/>
          <p:nvPr/>
        </p:nvSpPr>
        <p:spPr>
          <a:xfrm>
            <a:off x="9409176" y="137160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9409176" y="20116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409176" y="2331720"/>
            <a:ext cx="24505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defend the tenant?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9409176" y="38404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409176" y="4160520"/>
            <a:ext cx="2450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MFA · RBAC · audit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2" name="Text 29"/>
          <p:cNvSpPr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 ·  Confidential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1B3D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945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STACK  ·  READINESS, NOT CERTIFICATES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50292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the product does. Do not claim a badge.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65760" y="105156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0F1B3D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1612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108960" y="1216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 ·  MFA enrol + leftover-enroll recovery  ·  session controls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65760" y="20574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3B6FA0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1671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108960" y="2221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 ·  tenant isolation  ·  least privilege on finance and export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65760" y="306324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2A5A86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31729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108960" y="32278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  ·  export audit  ·  access trail  ·  invoice template lineage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65760" y="406908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3A6E9A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41788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108960" y="42336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on the public site  ·  safe logo upload  ·  documented controls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65760" y="507492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4A7FA8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5184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108960" y="52395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/ ISO = readiness path. Never “we are certified” unless Legal confirms.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3" name="Text 20"/>
          <p:cNvSpPr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 ·  Confidential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945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TWELVE-MINUTE PATH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50292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tour menus. Follow the exception.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051560"/>
            <a:ext cx="2816352" cy="2423160"/>
          </a:xfrm>
          <a:prstGeom prst="roundRect">
            <a:avLst>
              <a:gd name="adj" fmla="val 4528"/>
            </a:avLst>
          </a:prstGeom>
          <a:solidFill>
            <a:srgbClr val="E8EEF6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23444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8640" y="2286000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RAG. One red.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319272" y="1051560"/>
            <a:ext cx="2816352" cy="2423160"/>
          </a:xfrm>
          <a:prstGeom prst="roundRect">
            <a:avLst>
              <a:gd name="adj" fmla="val 4528"/>
            </a:avLst>
          </a:prstGeom>
          <a:solidFill>
            <a:srgbClr val="E8EEF6"/>
          </a:solidFill>
          <a:ln/>
        </p:spPr>
      </p:sp>
      <p:sp>
        <p:nvSpPr>
          <p:cNvPr id="12" name="Text 9"/>
          <p:cNvSpPr/>
          <p:nvPr/>
        </p:nvSpPr>
        <p:spPr>
          <a:xfrm>
            <a:off x="3502152" y="123444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502152" y="169164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502152" y="2286000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chip. Show 80 / 65.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72784" y="1051560"/>
            <a:ext cx="2816352" cy="2423160"/>
          </a:xfrm>
          <a:prstGeom prst="roundRect">
            <a:avLst>
              <a:gd name="adj" fmla="val 4528"/>
            </a:avLst>
          </a:prstGeom>
          <a:solidFill>
            <a:srgbClr val="E8EEF6"/>
          </a:solidFill>
          <a:ln/>
        </p:spPr>
      </p:sp>
      <p:sp>
        <p:nvSpPr>
          <p:cNvPr id="16" name="Text 13"/>
          <p:cNvSpPr/>
          <p:nvPr/>
        </p:nvSpPr>
        <p:spPr>
          <a:xfrm>
            <a:off x="6455664" y="123444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55664" y="169164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55664" y="2286000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actual · invoice.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226296" y="1051560"/>
            <a:ext cx="2816352" cy="2423160"/>
          </a:xfrm>
          <a:prstGeom prst="roundRect">
            <a:avLst>
              <a:gd name="adj" fmla="val 4528"/>
            </a:avLst>
          </a:prstGeom>
          <a:solidFill>
            <a:srgbClr val="E8EEF6"/>
          </a:solidFill>
          <a:ln/>
        </p:spPr>
      </p:sp>
      <p:sp>
        <p:nvSpPr>
          <p:cNvPr id="20" name="Text 17"/>
          <p:cNvSpPr/>
          <p:nvPr/>
        </p:nvSpPr>
        <p:spPr>
          <a:xfrm>
            <a:off x="9409176" y="123444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409176" y="169164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409176" y="2286000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utilisation.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65760" y="3657600"/>
            <a:ext cx="2816352" cy="2423160"/>
          </a:xfrm>
          <a:prstGeom prst="roundRect">
            <a:avLst>
              <a:gd name="adj" fmla="val 4528"/>
            </a:avLst>
          </a:prstGeom>
          <a:solidFill>
            <a:srgbClr val="E8EEF6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84048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8640" y="429768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48640" y="4892040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+ evidence.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3319272" y="3657600"/>
            <a:ext cx="2816352" cy="2423160"/>
          </a:xfrm>
          <a:prstGeom prst="roundRect">
            <a:avLst>
              <a:gd name="adj" fmla="val 4528"/>
            </a:avLst>
          </a:prstGeom>
          <a:solidFill>
            <a:srgbClr val="E8EEF6"/>
          </a:solidFill>
          <a:ln/>
        </p:spPr>
      </p:sp>
      <p:sp>
        <p:nvSpPr>
          <p:cNvPr id="28" name="Text 25"/>
          <p:cNvSpPr/>
          <p:nvPr/>
        </p:nvSpPr>
        <p:spPr>
          <a:xfrm>
            <a:off x="3502152" y="384048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02152" y="429768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3502152" y="4892040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view — live.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272784" y="3657600"/>
            <a:ext cx="2816352" cy="2423160"/>
          </a:xfrm>
          <a:prstGeom prst="roundRect">
            <a:avLst>
              <a:gd name="adj" fmla="val 4528"/>
            </a:avLst>
          </a:prstGeom>
          <a:solidFill>
            <a:srgbClr val="E8EEF6"/>
          </a:solidFill>
          <a:ln/>
        </p:spPr>
      </p:sp>
      <p:sp>
        <p:nvSpPr>
          <p:cNvPr id="32" name="Text 29"/>
          <p:cNvSpPr/>
          <p:nvPr/>
        </p:nvSpPr>
        <p:spPr>
          <a:xfrm>
            <a:off x="6455664" y="384048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455664" y="429768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455664" y="4892040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MFA / audit.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9226296" y="3657600"/>
            <a:ext cx="2816352" cy="2423160"/>
          </a:xfrm>
          <a:prstGeom prst="roundRect">
            <a:avLst>
              <a:gd name="adj" fmla="val 4528"/>
            </a:avLst>
          </a:prstGeom>
          <a:solidFill>
            <a:srgbClr val="0F1B3D"/>
          </a:solidFill>
          <a:ln/>
        </p:spPr>
      </p:sp>
      <p:sp>
        <p:nvSpPr>
          <p:cNvPr id="36" name="Text 33"/>
          <p:cNvSpPr/>
          <p:nvPr/>
        </p:nvSpPr>
        <p:spPr>
          <a:xfrm>
            <a:off x="9409176" y="384048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9409176" y="429768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9409176" y="4892040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scope, not a tour.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0" name="Text 37"/>
          <p:cNvSpPr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 ·  Confidential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945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 ·  PROVE THE LOOP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50292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programme — not a platform tour.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097280"/>
            <a:ext cx="3749040" cy="2880360"/>
          </a:xfrm>
          <a:prstGeom prst="roundRect">
            <a:avLst>
              <a:gd name="adj" fmla="val 3810"/>
            </a:avLst>
          </a:prstGeom>
          <a:solidFill>
            <a:srgbClr val="E8EEF6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94360" y="23317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Tenant, SSO path, one programme, named owners.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97680" y="1097280"/>
            <a:ext cx="3749040" cy="2880360"/>
          </a:xfrm>
          <a:prstGeom prst="roundRect">
            <a:avLst>
              <a:gd name="adj" fmla="val 3810"/>
            </a:avLst>
          </a:prstGeom>
          <a:solidFill>
            <a:srgbClr val="E8EEF6"/>
          </a:solidFill>
          <a:ln/>
        </p:spPr>
      </p:sp>
      <p:sp>
        <p:nvSpPr>
          <p:cNvPr id="12" name="Text 9"/>
          <p:cNvSpPr/>
          <p:nvPr/>
        </p:nvSpPr>
        <p:spPr>
          <a:xfrm>
            <a:off x="452628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2628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26280" y="23317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RAG, money line, one steering pack from the product.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0" y="1097280"/>
            <a:ext cx="3749040" cy="2880360"/>
          </a:xfrm>
          <a:prstGeom prst="roundRect">
            <a:avLst>
              <a:gd name="adj" fmla="val 3810"/>
            </a:avLst>
          </a:prstGeom>
          <a:solidFill>
            <a:srgbClr val="0F1B3D"/>
          </a:solidFill>
          <a:ln/>
        </p:spPr>
      </p:sp>
      <p:sp>
        <p:nvSpPr>
          <p:cNvPr id="16" name="Text 13"/>
          <p:cNvSpPr/>
          <p:nvPr/>
        </p:nvSpPr>
        <p:spPr>
          <a:xfrm>
            <a:off x="845820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58200" y="1691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458200" y="23317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/ expand on evidence — not on a slide rewrite.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65760" y="4206240"/>
            <a:ext cx="114300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4DD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4389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LOOKS LIKE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4360" y="4754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" y="5029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red explained in the room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383280" y="4754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383280" y="5029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invoice that matches the forecast story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172200" y="4754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172200" y="5029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pack nobody rebuilt in PowerPoint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961120" y="4754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961120" y="50292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 with an evidence link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0" name="Text 27"/>
          <p:cNvSpPr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 ·  Confidential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2318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9456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5760" y="50292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stays true.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097280"/>
            <a:ext cx="3749040" cy="2331720"/>
          </a:xfrm>
          <a:prstGeom prst="roundRect">
            <a:avLst>
              <a:gd name="adj" fmla="val 3922"/>
            </a:avLst>
          </a:prstGeom>
          <a:solidFill>
            <a:srgbClr val="E8EEF6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list price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4360" y="21031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Commercials are a separate conversation.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97680" y="1097280"/>
            <a:ext cx="3749040" cy="2331720"/>
          </a:xfrm>
          <a:prstGeom prst="roundRect">
            <a:avLst>
              <a:gd name="adj" fmla="val 3922"/>
            </a:avLst>
          </a:prstGeom>
          <a:solidFill>
            <a:srgbClr val="E8EEF6"/>
          </a:solidFill>
          <a:ln/>
        </p:spPr>
      </p:sp>
      <p:sp>
        <p:nvSpPr>
          <p:cNvPr id="11" name="Text 8"/>
          <p:cNvSpPr/>
          <p:nvPr/>
        </p:nvSpPr>
        <p:spPr>
          <a:xfrm>
            <a:off x="4526280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ROI 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26280" y="21031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their Sunday rebuild costs.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29600" y="1097280"/>
            <a:ext cx="3749040" cy="2331720"/>
          </a:xfrm>
          <a:prstGeom prst="roundRect">
            <a:avLst>
              <a:gd name="adj" fmla="val 3922"/>
            </a:avLst>
          </a:prstGeom>
          <a:solidFill>
            <a:srgbClr val="E8EEF6"/>
          </a:solidFill>
          <a:ln/>
        </p:spPr>
      </p:sp>
      <p:sp>
        <p:nvSpPr>
          <p:cNvPr id="14" name="Text 11"/>
          <p:cNvSpPr/>
          <p:nvPr/>
        </p:nvSpPr>
        <p:spPr>
          <a:xfrm>
            <a:off x="8458200" y="1371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fake logos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458200" y="21031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name customers you cannot reference.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65760" y="3611880"/>
            <a:ext cx="3749040" cy="2331720"/>
          </a:xfrm>
          <a:prstGeom prst="roundRect">
            <a:avLst>
              <a:gd name="adj" fmla="val 3922"/>
            </a:avLst>
          </a:prstGeom>
          <a:solidFill>
            <a:srgbClr val="E8EEF6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3886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SOC 2 / ISO badge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94360" y="4617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only, unless Legal confirms.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297680" y="3611880"/>
            <a:ext cx="3749040" cy="2331720"/>
          </a:xfrm>
          <a:prstGeom prst="roundRect">
            <a:avLst>
              <a:gd name="adj" fmla="val 3922"/>
            </a:avLst>
          </a:prstGeom>
          <a:solidFill>
            <a:srgbClr val="E8EEF6"/>
          </a:solidFill>
          <a:ln/>
        </p:spPr>
      </p:sp>
      <p:sp>
        <p:nvSpPr>
          <p:cNvPr id="20" name="Text 17"/>
          <p:cNvSpPr/>
          <p:nvPr/>
        </p:nvSpPr>
        <p:spPr>
          <a:xfrm>
            <a:off x="4526280" y="3886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“we have no capacity”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526280" y="4617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is in the product. Show it.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229600" y="3611880"/>
            <a:ext cx="3749040" cy="2331720"/>
          </a:xfrm>
          <a:prstGeom prst="roundRect">
            <a:avLst>
              <a:gd name="adj" fmla="val 3922"/>
            </a:avLst>
          </a:prstGeom>
          <a:solidFill>
            <a:srgbClr val="E8EEF6"/>
          </a:solidFill>
          <a:ln/>
        </p:spPr>
      </p:sp>
      <p:sp>
        <p:nvSpPr>
          <p:cNvPr id="23" name="Text 20"/>
          <p:cNvSpPr/>
          <p:nvPr/>
        </p:nvSpPr>
        <p:spPr>
          <a:xfrm>
            <a:off x="8458200" y="3886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vapour roadmap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458200" y="4617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the loop that is live today.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6620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Portfolio intelligence  ·  Confidential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6FA0"/>
          </a:solidFill>
          <a:ln/>
        </p:spPr>
      </p:sp>
      <p:pic>
        <p:nvPicPr>
          <p:cNvPr id="4" name="Image 0" descr="/workspace/public/brand/iprojectx-mark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438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8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conversation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2920" y="14630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one red project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wall.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cannot explain it, invoice it, and pack it from the same tenant — we have not earned the next meeting.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42062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62544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43891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one-pager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48463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docs/sales/iProjectX-One-Pager.html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42062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62544"/>
          </a:solidFill>
          <a:ln/>
        </p:spPr>
      </p:sp>
      <p:sp>
        <p:nvSpPr>
          <p:cNvPr id="12" name="Text 9"/>
          <p:cNvSpPr/>
          <p:nvPr/>
        </p:nvSpPr>
        <p:spPr>
          <a:xfrm>
            <a:off x="4480560" y="43891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tenant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80560" y="48463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iprojectx.com  ·  book a walkthrough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92440" y="420624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162544"/>
          </a:solidFill>
          <a:ln/>
        </p:spPr>
      </p:sp>
      <p:sp>
        <p:nvSpPr>
          <p:cNvPr id="15" name="Text 12"/>
          <p:cNvSpPr/>
          <p:nvPr/>
        </p:nvSpPr>
        <p:spPr>
          <a:xfrm>
            <a:off x="8275320" y="43891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75320" y="48463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behind  ·  speaker notes on every slide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See. Explain. Govern.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iProjectX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iProjectX — Infographic Sales Pitch</dc:title>
  <dc:subject>Visual enterprise pitch</dc:subject>
  <dc:creator>iProjectX</dc:creator>
  <cp:lastModifiedBy>iProjectX</cp:lastModifiedBy>
  <cp:revision>1</cp:revision>
  <dcterms:created xsi:type="dcterms:W3CDTF">2026-08-15T23:46:06Z</dcterms:created>
  <dcterms:modified xsi:type="dcterms:W3CDTF">2026-08-15T23:46:06Z</dcterms:modified>
</cp:coreProperties>
</file>