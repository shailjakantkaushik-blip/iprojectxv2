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buyer, not the product. Name the four seats in the room. Then one sentence: calculated health, explained numbers, governed gates, enterprise tenancy.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Qualify: multi-project, mixed methods, board reporting, security review. If they have 3 projects and no audit, this is a later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which two they felt last quarter. Do not quote fake $ savings. The close is ‘we stop paying these in operating time and surprise.’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trash named competitors. Frame the category. If they name a PPM, ask: is RAG calculated or typed? Can the CFO click Explain?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slide you must land. See / Explain / Govern / Trust. Then pick the pillar the room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to the most senior person first. If CISO is present, jump to Trust after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sales wedge vs every typed-RAG PPM. Offer a 3-minute live click if they doubt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CFO/CIO care about Cockpit + Intelligence. PMO cares about Pulse. Don’t tour every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Excel-native is the commercial on-ramp: they do not have to boil the ocean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procurement is in the room: offer the security pack and BYOD brief. Never say ‘we are certified’.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a date you cannot keep. ‘This quarter’ is the frame. Pilot on their extract is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press on price: ‘we size to users, tenancy, and SSO/BYOD — proposal follows EOI.’ Do not guess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the room is lukewarm. Then go straight to the close. Do not stack fear.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ask. Book the date before you leave. Thank them.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PMO  ·  CIO  ·  CFO  ·  CISO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flying blind.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board one truth — calculated, explained, governed.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is the portfolio intelligence platform for enterprises that have outgrown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status decks, and static registers.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 ·  Confidential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376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www.iprojectx.com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organisations that run a real portfolio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delivery is still reconciled in PowerPoint the night before the board, this is for you.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69164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194767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/ Portfolio Director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251460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single operating picture across programs — not 40 project packs.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9164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94767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/ COO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19672" y="251460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Agile and Waterfall on one spine, with Jira in, not another silo.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88620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" y="414223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Investment office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" y="4709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FAC, FY, and benefits with a trail — before year-end surprise.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63640" y="388620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88620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14223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Risk &amp; Audit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19672" y="4709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MFA, tenancy, residency options, and evidence — not a shared login.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cost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is cheap. The decisions it delays are not.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invent ROI percentages. These are the costs your organisation already pays.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6916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1892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overruns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2648" y="24231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pressure found at reconciliation — when recovery options are gone.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5196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6916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453128" y="1892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Board-pack labour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53128" y="24231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weeks spent assembling a story the numbers already knew.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9244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92440" y="16916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8293608" y="1892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collision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93608" y="24231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people booked on five programs; nobody sees it until a gate slips.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388620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" y="4087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friction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12648" y="46177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in email. RAID in a personal workbook. No evidence pack.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51960" y="38862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388620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4453128" y="4087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453128" y="46177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Excel + slides + a PPM no one logs into. Three truths, one argument.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92440" y="38862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92440" y="388620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8293608" y="4087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93608" y="46177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and shared drives leaking portfolio detail outside the tenant.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5" name="Text 31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comparing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alternatives. One job to be done.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is not ‘store projects’. It is ‘put the next decision in front of leaders’.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decks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Flexible. Fragile. No tenancy. No explain trail. Breaks at 20 projects.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51960" y="173736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8056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register / PPM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480560" y="30632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past. RAG is typed. Integrations become another sync job.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73736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21040" y="30632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health. Explains money and RAG. Governs gates. Isolates tenants. Optional BYOD.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intelligence layer over delivery — not another register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11338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multi-tenant command center for live portfolio KPIs, calculated project health, explainable financials, stage-gate governance, RAID, resources, and benefits — Agile and Waterfall on the same truth.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" y="27889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2788920"/>
            <a:ext cx="73152" cy="33832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4360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and Cockpit on this week’s movement — not last month’s pack.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27889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2788920"/>
            <a:ext cx="73152" cy="33832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474720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RAG and $ figure has drivers the board can read.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7889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2788920"/>
            <a:ext cx="73152" cy="33832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55080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RAID, and approvals leave evidence. Escalations do not wait for a meeting.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52560" y="27889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52560" y="2788920"/>
            <a:ext cx="73152" cy="33832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3" name="Text 20"/>
          <p:cNvSpPr/>
          <p:nvPr/>
        </p:nvSpPr>
        <p:spPr>
          <a:xfrm>
            <a:off x="923544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235440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for every user. RLS. Optional SSO, IP allowlists, and BYOD residency.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by seat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buyer can take to their next meeting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not feature lists.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4592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645920"/>
            <a:ext cx="73152" cy="9875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645920"/>
            <a:ext cx="1645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377440" y="1645920"/>
            <a:ext cx="9098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picture. Health that is calculated. Escalations that fire without a chase email.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11480" y="274320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2743200"/>
            <a:ext cx="73152" cy="9875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743200"/>
            <a:ext cx="1645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377440" y="2743200"/>
            <a:ext cx="9098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 vs funding, FY view, GST-ready invoices, benefits vs case — with Explain, not a sidebar.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" y="384048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840480"/>
            <a:ext cx="73152" cy="9875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840480"/>
            <a:ext cx="1645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377440" y="3840480"/>
            <a:ext cx="9098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into demand. Timesheets into capacity. Agile and Waterfall without a second system.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493776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4937760"/>
            <a:ext cx="73152" cy="9875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937760"/>
            <a:ext cx="1645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377440" y="4937760"/>
            <a:ext cx="9098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TOTP MFA, tenant isolation, optional SSO / IP / BYOD, audit Excel packs.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RAG that can stand in front of the board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≥ 80   ·   Amber 65–79   ·   Red below 65   on a weighted 0–100 score.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2130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Slip, gates, milestones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78892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20%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32278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FAC, spend, remaining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88620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15%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4360" y="4325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throughput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498348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436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10%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94360" y="54223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and creep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06240" y="169164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38912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10%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389120" y="2130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 load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206240" y="278892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38912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10%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389120" y="32278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RAID pressure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206240" y="388620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38912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10%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389120" y="4325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in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206240" y="4983480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38912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5%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389120" y="54223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vs realised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001000" y="1691640"/>
            <a:ext cx="3794760" cy="4434840"/>
          </a:xfrm>
          <a:prstGeom prst="roundRect">
            <a:avLst>
              <a:gd name="adj" fmla="val 1928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This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229600" y="242316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control on $ KPIs and on RAG.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weights, drivers, 30-day outlook.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‘why is this Amber?’ is answered on the chip — not in a side email after the meeting.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8" name="Text 34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executive table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week’s pulse to the next investment decision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11480" y="164592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645920"/>
            <a:ext cx="73152" cy="20574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87452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Pulse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7512" y="237744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areas. Week-over-week digest. What deteriorated, improved, or became overdue.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73152" cy="20574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4" name="Text 11"/>
          <p:cNvSpPr/>
          <p:nvPr/>
        </p:nvSpPr>
        <p:spPr>
          <a:xfrm>
            <a:off x="6519672" y="187452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Cockpit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19672" y="237744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RAG heatmap, FY budget &amp; forecast, filterable to the question in the room.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388620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" y="3886200"/>
            <a:ext cx="73152" cy="20574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4114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7512" y="461772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cascades, capacity gaps, funding what-ifs, dependency criticality, ranking.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63640" y="388620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886200"/>
            <a:ext cx="73152" cy="20574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2" name="Text 19"/>
          <p:cNvSpPr/>
          <p:nvPr/>
        </p:nvSpPr>
        <p:spPr>
          <a:xfrm>
            <a:off x="6519672" y="4114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download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19672" y="461772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views. Page download. One invoice template for issued and new bills.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6" name="Text 22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portfolio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money, and RAID on one operating rhythm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11480" y="16459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gates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35915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Gantt, TODAY line, slip badges, checklist evidence on every hold / pass / reject.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16459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3484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34840" y="235915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FY, phase, EVM, benefits. Explain on forecast, spend, remaining.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16459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7532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spine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75320" y="235915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actions, issues, decisions tied to the project and the gate. Auto-escalation + email digests.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4360" y="459943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heatmaps. Weekly timesheets with approval. Actuals feed health.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51960" y="3886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43484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4840" y="459943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(and extensible connectors) into the pipeline. Encrypted tokens.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092440" y="3886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7532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Excel-native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5320" y="4599432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with upsert on project code — the on-ramp from the register you have today.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8" name="Text 24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buying criteria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how enterprises actually buy software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and ISO 27001 readiness — we do not claim certification we do not hold.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69164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" y="1856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0352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 required for every user. Optional per-org SAML SSO.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69164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3456432" y="1856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56432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security. Page ACL. Project visibility. No shared-login culture.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69164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1856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82512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IP / CIDR allowlists per organisation.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4400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44000" y="169164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9308592" y="1856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308592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BYOD — tenant registers on your PostgREST-compatible database.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393192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" y="4096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30352" y="4617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logos, palette, auth, and themes per organisation.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29184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91840" y="393192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Text 28"/>
          <p:cNvSpPr/>
          <p:nvPr/>
        </p:nvSpPr>
        <p:spPr>
          <a:xfrm>
            <a:off x="3456432" y="4096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posture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456432" y="4617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AI on live org data by default. Approved Open AI only if you request it.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1792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17920" y="393192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Text 32"/>
          <p:cNvSpPr/>
          <p:nvPr/>
        </p:nvSpPr>
        <p:spPr>
          <a:xfrm>
            <a:off x="6382512" y="4096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382512" y="4617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PKCE, hardened browser sessions — not JWTs dumped in localStorage.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14400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144000" y="3931920"/>
            <a:ext cx="73152" cy="2057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Text 36"/>
          <p:cNvSpPr/>
          <p:nvPr/>
        </p:nvSpPr>
        <p:spPr>
          <a:xfrm>
            <a:off x="9308592" y="4096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308592" y="4617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audit, security events, one-click Excel packs for auditors.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3" name="Text 39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enterprises start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 workspace this quarter — not an 18-month programme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11480" y="1737360"/>
            <a:ext cx="2788920" cy="4434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737360"/>
            <a:ext cx="73152" cy="4434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436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of Interest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37490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scope, tenancy model, and whether SSO / BYOD are in.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1737360"/>
            <a:ext cx="2788920" cy="4434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737360"/>
            <a:ext cx="73152" cy="4434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52044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workspace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20440" y="37490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slice of the portfolio via Excel. White-label their brand.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63640" y="1737360"/>
            <a:ext cx="2788920" cy="4434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1737360"/>
            <a:ext cx="73152" cy="4434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44652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46520" y="37490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runs Pulse + one program live. Security review in parallel.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189720" y="1737360"/>
            <a:ext cx="2788920" cy="4434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189720" y="1737360"/>
            <a:ext cx="73152" cy="4434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5" name="Text 22"/>
          <p:cNvSpPr/>
          <p:nvPr/>
        </p:nvSpPr>
        <p:spPr>
          <a:xfrm>
            <a:off x="937260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37260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72600" y="37490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portfolios, Jira connector, optional BYOD cutover.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0" name="Text 26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engagement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fit the organisation — we do not pitch a price in the room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" y="1152144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limits, and invoices are administered on the platform. GST and document chrome follow the live template.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73736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19659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7512" y="246888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workspace. Users under MFA. Optional SSO, BYOD, and white-label as provisioned.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73736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9659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do here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19672" y="246888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 price on this slide. No invented discount. Procurement gets a written proposal after EOI.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88620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" y="4114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 now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7512" y="461772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product. Security posture. Invoice and license administration. Evidence packs.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388620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886200"/>
            <a:ext cx="73152" cy="19659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11480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today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19672" y="461772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of Interest, or a dated workshop on one portfolio extract.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828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40080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 another board cycle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11480" y="164592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645920"/>
            <a:ext cx="73152" cy="9875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45920"/>
            <a:ext cx="4023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pack assembled by hand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54880" y="1645920"/>
            <a:ext cx="6766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will have moved. The story will be late again.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274320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743200"/>
            <a:ext cx="73152" cy="9875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743200"/>
            <a:ext cx="4023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typed RAG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4880" y="2743200"/>
            <a:ext cx="6766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project will sit Amber because nobody wanted the conversation.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11480" y="384048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" y="3840480"/>
            <a:ext cx="73152" cy="9875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840480"/>
            <a:ext cx="4023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audit scramble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54880" y="3840480"/>
            <a:ext cx="6766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will still live in inboxes.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11480" y="4937760"/>
            <a:ext cx="113385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4937760"/>
            <a:ext cx="73152" cy="9875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937760"/>
            <a:ext cx="4023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tool conversation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54880" y="4937760"/>
            <a:ext cx="6766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Excel, and slides will still disagree.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6" name="Text 22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leaders one truth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pack is late.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health. Explained numbers. Governed gates.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MFA, tenancy, optional SSO and BYOD. Your brand on the shell.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3B6FA0"/>
          </a:solidFill>
          <a:ln w="12700">
            <a:solidFill>
              <a:srgbClr val="3B6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233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of Interest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scoped pilot on your extract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402336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www.iprojectx.com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pack and BYOD brief on request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Enterprise product pitch  ·  Confidential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iProjectX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iProjectX — Enterprise Product Pitch</dc:title>
  <dc:subject>Selling portfolio intelligence to enterprise PMOs</dc:subject>
  <dc:creator>iProjectX</dc:creator>
  <cp:lastModifiedBy>iProjectX</cp:lastModifiedBy>
  <cp:revision>1</cp:revision>
  <dcterms:created xsi:type="dcterms:W3CDTF">2026-08-15T23:20:48Z</dcterms:created>
  <dcterms:modified xsi:type="dcterms:W3CDTF">2026-08-15T23:20:48Z</dcterms:modified>
</cp:coreProperties>
</file>